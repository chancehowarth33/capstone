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32918400" cy="3931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84" userDrawn="1">
          <p15:clr>
            <a:srgbClr val="A4A3A4"/>
          </p15:clr>
        </p15:guide>
        <p15:guide id="2" pos="10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0408"/>
    <a:srgbClr val="C8191A"/>
    <a:srgbClr val="C5191A"/>
    <a:srgbClr val="B303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2" autoAdjust="0"/>
    <p:restoredTop sz="94660"/>
  </p:normalViewPr>
  <p:slideViewPr>
    <p:cSldViewPr snapToGrid="0" showGuides="1">
      <p:cViewPr>
        <p:scale>
          <a:sx n="19" d="100"/>
          <a:sy n="19" d="100"/>
        </p:scale>
        <p:origin x="1260" y="36"/>
      </p:cViewPr>
      <p:guideLst>
        <p:guide orient="horz" pos="12384"/>
        <p:guide pos="10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6434881"/>
            <a:ext cx="27980640" cy="13688907"/>
          </a:xfrm>
        </p:spPr>
        <p:txBody>
          <a:bodyPr anchor="b"/>
          <a:lstStyle>
            <a:lvl1pPr algn="ctr"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14800" y="20651685"/>
            <a:ext cx="24688800" cy="9493035"/>
          </a:xfrm>
        </p:spPr>
        <p:txBody>
          <a:bodyPr/>
          <a:lstStyle>
            <a:lvl1pPr marL="0" indent="0" algn="ctr">
              <a:buNone/>
              <a:defRPr sz="8640"/>
            </a:lvl1pPr>
            <a:lvl2pPr marL="1645920" indent="0" algn="ctr">
              <a:buNone/>
              <a:defRPr sz="7200"/>
            </a:lvl2pPr>
            <a:lvl3pPr marL="3291840" indent="0" algn="ctr">
              <a:buNone/>
              <a:defRPr sz="6480"/>
            </a:lvl3pPr>
            <a:lvl4pPr marL="4937760" indent="0" algn="ctr">
              <a:buNone/>
              <a:defRPr sz="5760"/>
            </a:lvl4pPr>
            <a:lvl5pPr marL="6583680" indent="0" algn="ctr">
              <a:buNone/>
              <a:defRPr sz="5760"/>
            </a:lvl5pPr>
            <a:lvl6pPr marL="8229600" indent="0" algn="ctr">
              <a:buNone/>
              <a:defRPr sz="5760"/>
            </a:lvl6pPr>
            <a:lvl7pPr marL="9875520" indent="0" algn="ctr">
              <a:buNone/>
              <a:defRPr sz="5760"/>
            </a:lvl7pPr>
            <a:lvl8pPr marL="11521440" indent="0" algn="ctr">
              <a:buNone/>
              <a:defRPr sz="5760"/>
            </a:lvl8pPr>
            <a:lvl9pPr marL="13167360" indent="0" algn="ctr">
              <a:buNone/>
              <a:defRPr sz="57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72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021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5997" y="9802507"/>
            <a:ext cx="28392120" cy="16355692"/>
          </a:xfrm>
        </p:spPr>
        <p:txBody>
          <a:bodyPr anchor="b"/>
          <a:lstStyle>
            <a:lvl1pPr>
              <a:defRPr sz="2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45997" y="26312930"/>
            <a:ext cx="28392120" cy="8601072"/>
          </a:xfrm>
        </p:spPr>
        <p:txBody>
          <a:bodyPr/>
          <a:lstStyle>
            <a:lvl1pPr marL="0" indent="0">
              <a:buNone/>
              <a:defRPr sz="8640">
                <a:solidFill>
                  <a:schemeClr val="tx1"/>
                </a:solidFill>
              </a:defRPr>
            </a:lvl1pPr>
            <a:lvl2pPr marL="1645920" indent="0">
              <a:buNone/>
              <a:defRPr sz="7200">
                <a:solidFill>
                  <a:schemeClr val="tx1">
                    <a:tint val="75000"/>
                  </a:schemeClr>
                </a:solidFill>
              </a:defRPr>
            </a:lvl2pPr>
            <a:lvl3pPr marL="3291840" indent="0">
              <a:buNone/>
              <a:defRPr sz="6480">
                <a:solidFill>
                  <a:schemeClr val="tx1">
                    <a:tint val="75000"/>
                  </a:schemeClr>
                </a:solidFill>
              </a:defRPr>
            </a:lvl3pPr>
            <a:lvl4pPr marL="49377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4pPr>
            <a:lvl5pPr marL="658368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5pPr>
            <a:lvl6pPr marL="822960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6pPr>
            <a:lvl7pPr marL="987552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7pPr>
            <a:lvl8pPr marL="1152144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8pPr>
            <a:lvl9pPr marL="13167360" indent="0">
              <a:buNone/>
              <a:defRPr sz="5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833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63140" y="10466917"/>
            <a:ext cx="13990320" cy="249476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664940" y="10466917"/>
            <a:ext cx="13990320" cy="249476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79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093392"/>
            <a:ext cx="28392120" cy="75998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7431" y="9638668"/>
            <a:ext cx="13926024" cy="4723762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67431" y="14362430"/>
            <a:ext cx="13926024" cy="21124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664942" y="9638668"/>
            <a:ext cx="13994608" cy="4723762"/>
          </a:xfrm>
        </p:spPr>
        <p:txBody>
          <a:bodyPr anchor="b"/>
          <a:lstStyle>
            <a:lvl1pPr marL="0" indent="0">
              <a:buNone/>
              <a:defRPr sz="8640" b="1"/>
            </a:lvl1pPr>
            <a:lvl2pPr marL="1645920" indent="0">
              <a:buNone/>
              <a:defRPr sz="7200" b="1"/>
            </a:lvl2pPr>
            <a:lvl3pPr marL="3291840" indent="0">
              <a:buNone/>
              <a:defRPr sz="6480" b="1"/>
            </a:lvl3pPr>
            <a:lvl4pPr marL="4937760" indent="0">
              <a:buNone/>
              <a:defRPr sz="5760" b="1"/>
            </a:lvl4pPr>
            <a:lvl5pPr marL="6583680" indent="0">
              <a:buNone/>
              <a:defRPr sz="5760" b="1"/>
            </a:lvl5pPr>
            <a:lvl6pPr marL="8229600" indent="0">
              <a:buNone/>
              <a:defRPr sz="5760" b="1"/>
            </a:lvl6pPr>
            <a:lvl7pPr marL="9875520" indent="0">
              <a:buNone/>
              <a:defRPr sz="5760" b="1"/>
            </a:lvl7pPr>
            <a:lvl8pPr marL="11521440" indent="0">
              <a:buNone/>
              <a:defRPr sz="5760" b="1"/>
            </a:lvl8pPr>
            <a:lvl9pPr marL="13167360" indent="0">
              <a:buNone/>
              <a:defRPr sz="57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664942" y="14362430"/>
            <a:ext cx="13994608" cy="211249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84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5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718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621280"/>
            <a:ext cx="10617041" cy="91744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94608" y="5661245"/>
            <a:ext cx="16664940" cy="27942117"/>
          </a:xfrm>
        </p:spPr>
        <p:txBody>
          <a:bodyPr/>
          <a:lstStyle>
            <a:lvl1pPr>
              <a:defRPr sz="11520"/>
            </a:lvl1pPr>
            <a:lvl2pPr>
              <a:defRPr sz="10080"/>
            </a:lvl2pPr>
            <a:lvl3pPr>
              <a:defRPr sz="8640"/>
            </a:lvl3pPr>
            <a:lvl4pPr>
              <a:defRPr sz="7200"/>
            </a:lvl4pPr>
            <a:lvl5pPr>
              <a:defRPr sz="7200"/>
            </a:lvl5pPr>
            <a:lvl6pPr>
              <a:defRPr sz="7200"/>
            </a:lvl6pPr>
            <a:lvl7pPr>
              <a:defRPr sz="7200"/>
            </a:lvl7pPr>
            <a:lvl8pPr>
              <a:defRPr sz="7200"/>
            </a:lvl8pPr>
            <a:lvl9pPr>
              <a:defRPr sz="7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1795760"/>
            <a:ext cx="10617041" cy="21853105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7428" y="2621280"/>
            <a:ext cx="10617041" cy="9174480"/>
          </a:xfrm>
        </p:spPr>
        <p:txBody>
          <a:bodyPr anchor="b"/>
          <a:lstStyle>
            <a:lvl1pPr>
              <a:defRPr sz="11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994608" y="5661245"/>
            <a:ext cx="16664940" cy="27942117"/>
          </a:xfrm>
        </p:spPr>
        <p:txBody>
          <a:bodyPr anchor="t"/>
          <a:lstStyle>
            <a:lvl1pPr marL="0" indent="0">
              <a:buNone/>
              <a:defRPr sz="11520"/>
            </a:lvl1pPr>
            <a:lvl2pPr marL="1645920" indent="0">
              <a:buNone/>
              <a:defRPr sz="10080"/>
            </a:lvl2pPr>
            <a:lvl3pPr marL="3291840" indent="0">
              <a:buNone/>
              <a:defRPr sz="8640"/>
            </a:lvl3pPr>
            <a:lvl4pPr marL="4937760" indent="0">
              <a:buNone/>
              <a:defRPr sz="7200"/>
            </a:lvl4pPr>
            <a:lvl5pPr marL="6583680" indent="0">
              <a:buNone/>
              <a:defRPr sz="7200"/>
            </a:lvl5pPr>
            <a:lvl6pPr marL="8229600" indent="0">
              <a:buNone/>
              <a:defRPr sz="7200"/>
            </a:lvl6pPr>
            <a:lvl7pPr marL="9875520" indent="0">
              <a:buNone/>
              <a:defRPr sz="7200"/>
            </a:lvl7pPr>
            <a:lvl8pPr marL="11521440" indent="0">
              <a:buNone/>
              <a:defRPr sz="7200"/>
            </a:lvl8pPr>
            <a:lvl9pPr marL="13167360" indent="0">
              <a:buNone/>
              <a:defRPr sz="7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67428" y="11795760"/>
            <a:ext cx="10617041" cy="21853105"/>
          </a:xfrm>
        </p:spPr>
        <p:txBody>
          <a:bodyPr/>
          <a:lstStyle>
            <a:lvl1pPr marL="0" indent="0">
              <a:buNone/>
              <a:defRPr sz="5760"/>
            </a:lvl1pPr>
            <a:lvl2pPr marL="1645920" indent="0">
              <a:buNone/>
              <a:defRPr sz="5040"/>
            </a:lvl2pPr>
            <a:lvl3pPr marL="3291840" indent="0">
              <a:buNone/>
              <a:defRPr sz="4320"/>
            </a:lvl3pPr>
            <a:lvl4pPr marL="4937760" indent="0">
              <a:buNone/>
              <a:defRPr sz="3600"/>
            </a:lvl4pPr>
            <a:lvl5pPr marL="6583680" indent="0">
              <a:buNone/>
              <a:defRPr sz="3600"/>
            </a:lvl5pPr>
            <a:lvl6pPr marL="8229600" indent="0">
              <a:buNone/>
              <a:defRPr sz="3600"/>
            </a:lvl6pPr>
            <a:lvl7pPr marL="9875520" indent="0">
              <a:buNone/>
              <a:defRPr sz="3600"/>
            </a:lvl7pPr>
            <a:lvl8pPr marL="11521440" indent="0">
              <a:buNone/>
              <a:defRPr sz="3600"/>
            </a:lvl8pPr>
            <a:lvl9pPr marL="13167360" indent="0">
              <a:buNone/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212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68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557232" y="2093383"/>
            <a:ext cx="7098030" cy="333212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63142" y="2093383"/>
            <a:ext cx="20882610" cy="333212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3FB0D-4EAE-4112-8709-50D9D9EECE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324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63140" y="2093392"/>
            <a:ext cx="28392120" cy="75998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3140" y="10466917"/>
            <a:ext cx="28392120" cy="24947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63140" y="36443082"/>
            <a:ext cx="7406640" cy="2093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13FB0D-4EAE-4112-8709-50D9D9EECE38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04220" y="36443082"/>
            <a:ext cx="11109960" cy="2093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248620" y="36443082"/>
            <a:ext cx="7406640" cy="2093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866DED-9850-4B48-A978-669714688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05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91840" rtl="0" eaLnBrk="1" latinLnBrk="0" hangingPunct="1">
        <a:lnSpc>
          <a:spcPct val="90000"/>
        </a:lnSpc>
        <a:spcBef>
          <a:spcPct val="0"/>
        </a:spcBef>
        <a:buNone/>
        <a:defRPr sz="15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22960" indent="-822960" algn="l" defTabSz="3291840" rtl="0" eaLnBrk="1" latinLnBrk="0" hangingPunct="1">
        <a:lnSpc>
          <a:spcPct val="90000"/>
        </a:lnSpc>
        <a:spcBef>
          <a:spcPts val="3600"/>
        </a:spcBef>
        <a:buFont typeface="Arial" panose="020B0604020202020204" pitchFamily="34" charset="0"/>
        <a:buChar char="•"/>
        <a:defRPr sz="10080" kern="1200">
          <a:solidFill>
            <a:schemeClr val="tx1"/>
          </a:solidFill>
          <a:latin typeface="+mn-lt"/>
          <a:ea typeface="+mn-ea"/>
          <a:cs typeface="+mn-cs"/>
        </a:defRPr>
      </a:lvl1pPr>
      <a:lvl2pPr marL="24688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1148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7200" kern="1200">
          <a:solidFill>
            <a:schemeClr val="tx1"/>
          </a:solidFill>
          <a:latin typeface="+mn-lt"/>
          <a:ea typeface="+mn-ea"/>
          <a:cs typeface="+mn-cs"/>
        </a:defRPr>
      </a:lvl3pPr>
      <a:lvl4pPr marL="57607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740664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905256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1069848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234440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990320" indent="-822960" algn="l" defTabSz="3291840" rtl="0" eaLnBrk="1" latinLnBrk="0" hangingPunct="1">
        <a:lnSpc>
          <a:spcPct val="90000"/>
        </a:lnSpc>
        <a:spcBef>
          <a:spcPts val="1800"/>
        </a:spcBef>
        <a:buFont typeface="Arial" panose="020B0604020202020204" pitchFamily="34" charset="0"/>
        <a:buChar char="•"/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2pPr>
      <a:lvl3pPr marL="32918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3pPr>
      <a:lvl4pPr marL="49377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4pPr>
      <a:lvl5pPr marL="658368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5pPr>
      <a:lvl6pPr marL="822960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6pPr>
      <a:lvl7pPr marL="987552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7pPr>
      <a:lvl8pPr marL="1152144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8pPr>
      <a:lvl9pPr marL="13167360" algn="l" defTabSz="3291840" rtl="0" eaLnBrk="1" latinLnBrk="0" hangingPunct="1">
        <a:defRPr sz="64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427BDD6-D2E4-D3E0-95B9-60480025D625}"/>
              </a:ext>
            </a:extLst>
          </p:cNvPr>
          <p:cNvSpPr/>
          <p:nvPr/>
        </p:nvSpPr>
        <p:spPr>
          <a:xfrm>
            <a:off x="96115" y="34230009"/>
            <a:ext cx="16842817" cy="4146218"/>
          </a:xfrm>
          <a:prstGeom prst="rect">
            <a:avLst/>
          </a:prstGeom>
          <a:noFill/>
          <a:ln w="38100">
            <a:solidFill>
              <a:srgbClr val="BA0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4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C08470C6-8EF9-6890-4884-109681B73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4866" y="22687524"/>
            <a:ext cx="11726148" cy="10975943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4BFEF0B-4738-9BE3-3911-0D9EC13C7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6" y="19936214"/>
            <a:ext cx="20760000" cy="136870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766354-C0E9-7392-3621-772574A71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074" y="4794394"/>
            <a:ext cx="20492980" cy="142663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1770BBE-F58C-1BBF-DCE0-0F2667EFB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31972" y="3725127"/>
            <a:ext cx="12021454" cy="1803218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0C88FD3-CC98-D9B8-F32B-EBE51AC8867C}"/>
              </a:ext>
            </a:extLst>
          </p:cNvPr>
          <p:cNvSpPr/>
          <p:nvPr/>
        </p:nvSpPr>
        <p:spPr>
          <a:xfrm>
            <a:off x="0" y="0"/>
            <a:ext cx="32918400" cy="3420533"/>
          </a:xfrm>
          <a:prstGeom prst="rect">
            <a:avLst/>
          </a:prstGeom>
          <a:solidFill>
            <a:srgbClr val="BA040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A61909-4024-9C6A-6E3B-2CB3FAE75D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09054" y="0"/>
            <a:ext cx="9409346" cy="34205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5DF218-04DC-1653-7B84-DAFA5655B6B1}"/>
              </a:ext>
            </a:extLst>
          </p:cNvPr>
          <p:cNvSpPr txBox="1"/>
          <p:nvPr/>
        </p:nvSpPr>
        <p:spPr>
          <a:xfrm>
            <a:off x="406400" y="1373861"/>
            <a:ext cx="472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Anirudh Kompella</a:t>
            </a:r>
          </a:p>
          <a:p>
            <a:r>
              <a:rPr lang="en-US" sz="4400" dirty="0">
                <a:solidFill>
                  <a:schemeClr val="bg1"/>
                </a:solidFill>
              </a:rPr>
              <a:t>Chance Howarth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BF5011-6502-DE65-AAE6-9FF3E232D58D}"/>
              </a:ext>
            </a:extLst>
          </p:cNvPr>
          <p:cNvSpPr txBox="1"/>
          <p:nvPr/>
        </p:nvSpPr>
        <p:spPr>
          <a:xfrm>
            <a:off x="18326100" y="1373861"/>
            <a:ext cx="4724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Amer Salem</a:t>
            </a:r>
          </a:p>
          <a:p>
            <a:r>
              <a:rPr lang="en-US" sz="4400" dirty="0" err="1">
                <a:solidFill>
                  <a:schemeClr val="bg1"/>
                </a:solidFill>
              </a:rPr>
              <a:t>Munasib</a:t>
            </a:r>
            <a:r>
              <a:rPr lang="en-US" sz="4400" dirty="0">
                <a:solidFill>
                  <a:schemeClr val="bg1"/>
                </a:solidFill>
              </a:rPr>
              <a:t> Ilham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08CFA-0025-540C-BBCD-35B0FAEE4809}"/>
              </a:ext>
            </a:extLst>
          </p:cNvPr>
          <p:cNvSpPr txBox="1"/>
          <p:nvPr/>
        </p:nvSpPr>
        <p:spPr>
          <a:xfrm>
            <a:off x="6407965" y="-1"/>
            <a:ext cx="94093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</a:rPr>
              <a:t>ECE554</a:t>
            </a:r>
          </a:p>
          <a:p>
            <a:pPr algn="ctr"/>
            <a:r>
              <a:rPr lang="en-US" sz="7200" dirty="0">
                <a:solidFill>
                  <a:schemeClr val="bg1"/>
                </a:solidFill>
              </a:rPr>
              <a:t>Hand-Tracked Interactive Game System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2CFD81-2EB9-C437-4DDD-FABD7F5D76AD}"/>
              </a:ext>
            </a:extLst>
          </p:cNvPr>
          <p:cNvSpPr/>
          <p:nvPr/>
        </p:nvSpPr>
        <p:spPr>
          <a:xfrm>
            <a:off x="114299" y="3739508"/>
            <a:ext cx="20785081" cy="1054886"/>
          </a:xfrm>
          <a:prstGeom prst="rect">
            <a:avLst/>
          </a:prstGeom>
          <a:solidFill>
            <a:srgbClr val="BA0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Overview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CD29BF2-E640-BA20-AD97-115F9D2932F5}"/>
              </a:ext>
            </a:extLst>
          </p:cNvPr>
          <p:cNvSpPr/>
          <p:nvPr/>
        </p:nvSpPr>
        <p:spPr>
          <a:xfrm>
            <a:off x="114300" y="3729355"/>
            <a:ext cx="20785080" cy="15188743"/>
          </a:xfrm>
          <a:prstGeom prst="rect">
            <a:avLst/>
          </a:prstGeom>
          <a:noFill/>
          <a:ln w="38100">
            <a:solidFill>
              <a:srgbClr val="BA0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4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F1C5EF1-4F01-C5DE-1DC8-AAEFC566B2E1}"/>
              </a:ext>
            </a:extLst>
          </p:cNvPr>
          <p:cNvSpPr/>
          <p:nvPr/>
        </p:nvSpPr>
        <p:spPr>
          <a:xfrm>
            <a:off x="21000979" y="3729355"/>
            <a:ext cx="11802890" cy="1065039"/>
          </a:xfrm>
          <a:prstGeom prst="rect">
            <a:avLst/>
          </a:prstGeom>
          <a:solidFill>
            <a:srgbClr val="BA0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Hardware Interfaces &amp; Peripherals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37EFEC-394A-CB4D-FEBE-795D64DF661B}"/>
              </a:ext>
            </a:extLst>
          </p:cNvPr>
          <p:cNvSpPr/>
          <p:nvPr/>
        </p:nvSpPr>
        <p:spPr>
          <a:xfrm>
            <a:off x="16945741" y="33932095"/>
            <a:ext cx="15909284" cy="5216461"/>
          </a:xfrm>
          <a:prstGeom prst="rect">
            <a:avLst/>
          </a:prstGeom>
          <a:noFill/>
          <a:ln w="38100">
            <a:solidFill>
              <a:srgbClr val="BA0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4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CCC50A-5F34-95C9-6786-EA8B46AD6982}"/>
              </a:ext>
            </a:extLst>
          </p:cNvPr>
          <p:cNvSpPr/>
          <p:nvPr/>
        </p:nvSpPr>
        <p:spPr>
          <a:xfrm>
            <a:off x="21000978" y="3729355"/>
            <a:ext cx="11802891" cy="18041851"/>
          </a:xfrm>
          <a:prstGeom prst="rect">
            <a:avLst/>
          </a:prstGeom>
          <a:noFill/>
          <a:ln w="38100">
            <a:solidFill>
              <a:srgbClr val="BA0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4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C37FAE-3E7D-4DF7-FE3C-B2EBC9D7901D}"/>
              </a:ext>
            </a:extLst>
          </p:cNvPr>
          <p:cNvSpPr/>
          <p:nvPr/>
        </p:nvSpPr>
        <p:spPr>
          <a:xfrm>
            <a:off x="114299" y="18918097"/>
            <a:ext cx="20785081" cy="14745370"/>
          </a:xfrm>
          <a:prstGeom prst="rect">
            <a:avLst/>
          </a:prstGeom>
          <a:noFill/>
          <a:ln w="38100">
            <a:solidFill>
              <a:srgbClr val="BA0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4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7FF278-60F5-815D-4BA0-CCB9B2E7D425}"/>
              </a:ext>
            </a:extLst>
          </p:cNvPr>
          <p:cNvSpPr/>
          <p:nvPr/>
        </p:nvSpPr>
        <p:spPr>
          <a:xfrm>
            <a:off x="12700" y="37869376"/>
            <a:ext cx="32918400" cy="1417432"/>
          </a:xfrm>
          <a:prstGeom prst="rect">
            <a:avLst/>
          </a:prstGeom>
          <a:solidFill>
            <a:srgbClr val="BA040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F83C07C-AFA7-986C-D50D-E22B12A3D647}"/>
              </a:ext>
            </a:extLst>
          </p:cNvPr>
          <p:cNvSpPr/>
          <p:nvPr/>
        </p:nvSpPr>
        <p:spPr>
          <a:xfrm>
            <a:off x="21000979" y="21757309"/>
            <a:ext cx="11854046" cy="11906158"/>
          </a:xfrm>
          <a:prstGeom prst="rect">
            <a:avLst/>
          </a:prstGeom>
          <a:noFill/>
          <a:ln w="38100">
            <a:solidFill>
              <a:srgbClr val="BA040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344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DDC1065-8BAA-0597-8604-479314F7DC3B}"/>
              </a:ext>
            </a:extLst>
          </p:cNvPr>
          <p:cNvSpPr txBox="1"/>
          <p:nvPr/>
        </p:nvSpPr>
        <p:spPr>
          <a:xfrm>
            <a:off x="13947775" y="37948227"/>
            <a:ext cx="5022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Spring 2026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01B31D3-6F07-278A-73B6-85D831328F68}"/>
              </a:ext>
            </a:extLst>
          </p:cNvPr>
          <p:cNvSpPr/>
          <p:nvPr/>
        </p:nvSpPr>
        <p:spPr>
          <a:xfrm>
            <a:off x="21033950" y="21757308"/>
            <a:ext cx="11802890" cy="1065039"/>
          </a:xfrm>
          <a:prstGeom prst="rect">
            <a:avLst/>
          </a:prstGeom>
          <a:solidFill>
            <a:srgbClr val="BA0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Rendering Pipeline &amp; Game Output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AB6B944-C8F3-051B-52B7-FEF63BA0596E}"/>
              </a:ext>
            </a:extLst>
          </p:cNvPr>
          <p:cNvSpPr/>
          <p:nvPr/>
        </p:nvSpPr>
        <p:spPr>
          <a:xfrm>
            <a:off x="132483" y="18976051"/>
            <a:ext cx="20785081" cy="1054886"/>
          </a:xfrm>
          <a:prstGeom prst="rect">
            <a:avLst/>
          </a:prstGeom>
          <a:solidFill>
            <a:srgbClr val="BA0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 Algorithms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FC00281-2F2F-182C-07CD-F21ECE3A475F}"/>
              </a:ext>
            </a:extLst>
          </p:cNvPr>
          <p:cNvSpPr/>
          <p:nvPr/>
        </p:nvSpPr>
        <p:spPr>
          <a:xfrm>
            <a:off x="96114" y="33589964"/>
            <a:ext cx="32808156" cy="721754"/>
          </a:xfrm>
          <a:prstGeom prst="rect">
            <a:avLst/>
          </a:prstGeom>
          <a:solidFill>
            <a:srgbClr val="BA04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                                                                                          Future Considerations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3405E2-6CD2-C9CE-CE57-2C7D576C8CA7}"/>
              </a:ext>
            </a:extLst>
          </p:cNvPr>
          <p:cNvSpPr txBox="1"/>
          <p:nvPr/>
        </p:nvSpPr>
        <p:spPr>
          <a:xfrm>
            <a:off x="114299" y="34488298"/>
            <a:ext cx="1693304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>
                <a:latin typeface="Segoe UI Variable Display" pitchFamily="2" charset="0"/>
              </a:rPr>
              <a:t>Clock Domain Crossing (Camera → VGA):</a:t>
            </a:r>
            <a:r>
              <a:rPr lang="en-US" sz="3400" dirty="0">
                <a:latin typeface="Segoe UI Variable Display" pitchFamily="2" charset="0"/>
              </a:rPr>
              <a:t> Safe synchronization was required to transfer hand tracking data between different clock domains without instability.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>
                <a:latin typeface="Segoe UI Variable Display" pitchFamily="2" charset="0"/>
              </a:rPr>
              <a:t>Latency vs. Responsiveness Tradeoff: </a:t>
            </a:r>
            <a:r>
              <a:rPr lang="en-US" sz="3400" dirty="0">
                <a:latin typeface="Segoe UI Variable Display" pitchFamily="2" charset="0"/>
              </a:rPr>
              <a:t>Frame-based centroid updates improved stability but introduced slight delay in control response.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>
                <a:latin typeface="Segoe UI Variable Display" pitchFamily="2" charset="0"/>
              </a:rPr>
              <a:t>Designing an Intuitive Control Scheme:</a:t>
            </a:r>
            <a:r>
              <a:rPr lang="en-US" sz="3400" dirty="0">
                <a:latin typeface="Segoe UI Variable Display" pitchFamily="2" charset="0"/>
              </a:rPr>
              <a:t> A moving dead zone around the snake head was needed to reduce jitter and enable natural gameplay.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D336604-A824-7478-951D-5A233ABB2DBE}"/>
              </a:ext>
            </a:extLst>
          </p:cNvPr>
          <p:cNvSpPr txBox="1"/>
          <p:nvPr/>
        </p:nvSpPr>
        <p:spPr>
          <a:xfrm>
            <a:off x="17356626" y="34466463"/>
            <a:ext cx="1548021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>
                <a:latin typeface="Segoe UI Variable Display" pitchFamily="2" charset="0"/>
              </a:rPr>
              <a:t>AI/ML-Based Hand Tracking:</a:t>
            </a:r>
            <a:r>
              <a:rPr lang="en-US" sz="3400" dirty="0">
                <a:latin typeface="Segoe UI Variable Display" pitchFamily="2" charset="0"/>
              </a:rPr>
              <a:t> Replacing RGB thresholding with ML techniques could improve robustness to lighting changes and enable gesture recognition.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>
                <a:latin typeface="Segoe UI Variable Display" pitchFamily="2" charset="0"/>
              </a:rPr>
              <a:t>Enhanced Hardware Platform:</a:t>
            </a:r>
            <a:r>
              <a:rPr lang="en-US" sz="3400" dirty="0">
                <a:latin typeface="Segoe UI Variable Display" pitchFamily="2" charset="0"/>
              </a:rPr>
              <a:t> Upgrading to a more powerful FPGA or camera would allow for better performance and graphics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400" b="1" dirty="0">
                <a:latin typeface="Segoe UI Variable Display" pitchFamily="2" charset="0"/>
              </a:rPr>
              <a:t>Expanded Gameplay:</a:t>
            </a:r>
            <a:r>
              <a:rPr lang="en-US" sz="3400" dirty="0">
                <a:latin typeface="Segoe UI Variable Display" pitchFamily="2" charset="0"/>
              </a:rPr>
              <a:t> Adding more advanced game mechanics, scoring systems, AI opponents, and modes would enhance overall user experience.</a:t>
            </a:r>
          </a:p>
        </p:txBody>
      </p:sp>
    </p:spTree>
    <p:extLst>
      <p:ext uri="{BB962C8B-B14F-4D97-AF65-F5344CB8AC3E}">
        <p14:creationId xmlns:p14="http://schemas.microsoft.com/office/powerpoint/2010/main" val="3981622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1345</TotalTime>
  <Words>163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Variable Display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Krachey</dc:creator>
  <cp:lastModifiedBy>Amer Raslan Salem</cp:lastModifiedBy>
  <cp:revision>6</cp:revision>
  <dcterms:created xsi:type="dcterms:W3CDTF">2026-03-02T17:29:31Z</dcterms:created>
  <dcterms:modified xsi:type="dcterms:W3CDTF">2026-04-23T01:35:34Z</dcterms:modified>
</cp:coreProperties>
</file>