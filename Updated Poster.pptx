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2918400" cy="39319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384" userDrawn="1">
          <p15:clr>
            <a:srgbClr val="A4A3A4"/>
          </p15:clr>
        </p15:guide>
        <p15:guide id="2" pos="103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0408"/>
    <a:srgbClr val="C8191A"/>
    <a:srgbClr val="C5191A"/>
    <a:srgbClr val="B303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2" autoAdjust="0"/>
    <p:restoredTop sz="94660"/>
  </p:normalViewPr>
  <p:slideViewPr>
    <p:cSldViewPr snapToGrid="0" showGuides="1">
      <p:cViewPr varScale="1">
        <p:scale>
          <a:sx n="11" d="100"/>
          <a:sy n="11" d="100"/>
        </p:scale>
        <p:origin x="2124" y="116"/>
      </p:cViewPr>
      <p:guideLst>
        <p:guide orient="horz" pos="12384"/>
        <p:guide pos="10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6434881"/>
            <a:ext cx="27980640" cy="13688907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20651685"/>
            <a:ext cx="24688800" cy="9493035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3FB0D-4EAE-4112-8709-50D9D9EECE38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6DED-9850-4B48-A978-669714688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072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3FB0D-4EAE-4112-8709-50D9D9EECE38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6DED-9850-4B48-A978-669714688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021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9802507"/>
            <a:ext cx="28392120" cy="16355692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26312930"/>
            <a:ext cx="28392120" cy="8601072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/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75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3FB0D-4EAE-4112-8709-50D9D9EECE38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6DED-9850-4B48-A978-669714688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833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10466917"/>
            <a:ext cx="13990320" cy="249476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10466917"/>
            <a:ext cx="13990320" cy="249476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3FB0D-4EAE-4112-8709-50D9D9EECE38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6DED-9850-4B48-A978-669714688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879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093392"/>
            <a:ext cx="28392120" cy="75998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9638668"/>
            <a:ext cx="13926024" cy="4723762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14362430"/>
            <a:ext cx="13926024" cy="211249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9638668"/>
            <a:ext cx="13994608" cy="4723762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14362430"/>
            <a:ext cx="13994608" cy="211249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3FB0D-4EAE-4112-8709-50D9D9EECE38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6DED-9850-4B48-A978-669714688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846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3FB0D-4EAE-4112-8709-50D9D9EECE38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6DED-9850-4B48-A978-669714688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959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3FB0D-4EAE-4112-8709-50D9D9EECE38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6DED-9850-4B48-A978-669714688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718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621280"/>
            <a:ext cx="10617041" cy="91744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5661245"/>
            <a:ext cx="16664940" cy="27942117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1795760"/>
            <a:ext cx="10617041" cy="21853105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3FB0D-4EAE-4112-8709-50D9D9EECE38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6DED-9850-4B48-A978-669714688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9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621280"/>
            <a:ext cx="10617041" cy="91744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5661245"/>
            <a:ext cx="16664940" cy="27942117"/>
          </a:xfrm>
        </p:spPr>
        <p:txBody>
          <a:bodyPr anchor="t"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1795760"/>
            <a:ext cx="10617041" cy="21853105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3FB0D-4EAE-4112-8709-50D9D9EECE38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6DED-9850-4B48-A978-669714688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212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3FB0D-4EAE-4112-8709-50D9D9EECE38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6DED-9850-4B48-A978-669714688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568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2093383"/>
            <a:ext cx="7098030" cy="3332120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2093383"/>
            <a:ext cx="20882610" cy="333212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3FB0D-4EAE-4112-8709-50D9D9EECE38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6DED-9850-4B48-A978-669714688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324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2093392"/>
            <a:ext cx="28392120" cy="75998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10466917"/>
            <a:ext cx="28392120" cy="24947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36443082"/>
            <a:ext cx="7406640" cy="20933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13FB0D-4EAE-4112-8709-50D9D9EECE38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36443082"/>
            <a:ext cx="11109960" cy="20933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36443082"/>
            <a:ext cx="7406640" cy="20933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866DED-9850-4B48-A978-669714688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205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315DE99B-9E4F-C809-9FBF-3CEAE1892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5561" y="22874969"/>
            <a:ext cx="11795901" cy="1062936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2A4C16C-8B73-B749-9D66-DE0BC825A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2" y="20030937"/>
            <a:ext cx="21006749" cy="1355481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2F0E46E-3A60-04C8-B68C-E60A621E33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99380" y="4735609"/>
            <a:ext cx="11946369" cy="168834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01FDA61-D696-7267-FF99-5B222C20C3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974" y="4798621"/>
            <a:ext cx="20752590" cy="1394289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427BDD6-D2E4-D3E0-95B9-60480025D625}"/>
              </a:ext>
            </a:extLst>
          </p:cNvPr>
          <p:cNvSpPr/>
          <p:nvPr/>
        </p:nvSpPr>
        <p:spPr>
          <a:xfrm>
            <a:off x="96115" y="34230009"/>
            <a:ext cx="16842817" cy="4146218"/>
          </a:xfrm>
          <a:prstGeom prst="rect">
            <a:avLst/>
          </a:prstGeom>
          <a:noFill/>
          <a:ln w="38100">
            <a:solidFill>
              <a:srgbClr val="BA04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44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C88FD3-CC98-D9B8-F32B-EBE51AC8867C}"/>
              </a:ext>
            </a:extLst>
          </p:cNvPr>
          <p:cNvSpPr/>
          <p:nvPr/>
        </p:nvSpPr>
        <p:spPr>
          <a:xfrm>
            <a:off x="0" y="0"/>
            <a:ext cx="32918400" cy="3420533"/>
          </a:xfrm>
          <a:prstGeom prst="rect">
            <a:avLst/>
          </a:prstGeom>
          <a:solidFill>
            <a:srgbClr val="BA040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A61909-4024-9C6A-6E3B-2CB3FAE75D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09054" y="0"/>
            <a:ext cx="9409346" cy="34205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5DF218-04DC-1653-7B84-DAFA5655B6B1}"/>
              </a:ext>
            </a:extLst>
          </p:cNvPr>
          <p:cNvSpPr txBox="1"/>
          <p:nvPr/>
        </p:nvSpPr>
        <p:spPr>
          <a:xfrm>
            <a:off x="406400" y="1373861"/>
            <a:ext cx="4724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Anirudh Kompella</a:t>
            </a:r>
          </a:p>
          <a:p>
            <a:r>
              <a:rPr lang="en-US" sz="4400" dirty="0">
                <a:solidFill>
                  <a:schemeClr val="bg1"/>
                </a:solidFill>
              </a:rPr>
              <a:t>Chance Howarth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BF5011-6502-DE65-AAE6-9FF3E232D58D}"/>
              </a:ext>
            </a:extLst>
          </p:cNvPr>
          <p:cNvSpPr txBox="1"/>
          <p:nvPr/>
        </p:nvSpPr>
        <p:spPr>
          <a:xfrm>
            <a:off x="18326100" y="1373861"/>
            <a:ext cx="4724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Amer Salem</a:t>
            </a:r>
          </a:p>
          <a:p>
            <a:r>
              <a:rPr lang="en-US" sz="4400" dirty="0" err="1">
                <a:solidFill>
                  <a:schemeClr val="bg1"/>
                </a:solidFill>
              </a:rPr>
              <a:t>Munasib</a:t>
            </a:r>
            <a:r>
              <a:rPr lang="en-US" sz="4400" dirty="0">
                <a:solidFill>
                  <a:schemeClr val="bg1"/>
                </a:solidFill>
              </a:rPr>
              <a:t> Ilham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B08CFA-0025-540C-BBCD-35B0FAEE4809}"/>
              </a:ext>
            </a:extLst>
          </p:cNvPr>
          <p:cNvSpPr txBox="1"/>
          <p:nvPr/>
        </p:nvSpPr>
        <p:spPr>
          <a:xfrm>
            <a:off x="6407965" y="-1"/>
            <a:ext cx="940934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</a:rPr>
              <a:t>ECE554</a:t>
            </a:r>
          </a:p>
          <a:p>
            <a:pPr algn="ctr"/>
            <a:r>
              <a:rPr lang="en-US" sz="7200" dirty="0">
                <a:solidFill>
                  <a:schemeClr val="bg1"/>
                </a:solidFill>
              </a:rPr>
              <a:t>Hand-Tracked Interactive Game System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2CFD81-2EB9-C437-4DDD-FABD7F5D76AD}"/>
              </a:ext>
            </a:extLst>
          </p:cNvPr>
          <p:cNvSpPr/>
          <p:nvPr/>
        </p:nvSpPr>
        <p:spPr>
          <a:xfrm>
            <a:off x="114299" y="3739508"/>
            <a:ext cx="20785081" cy="1054886"/>
          </a:xfrm>
          <a:prstGeom prst="rect">
            <a:avLst/>
          </a:prstGeom>
          <a:solidFill>
            <a:srgbClr val="BA04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Overview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D29BF2-E640-BA20-AD97-115F9D2932F5}"/>
              </a:ext>
            </a:extLst>
          </p:cNvPr>
          <p:cNvSpPr/>
          <p:nvPr/>
        </p:nvSpPr>
        <p:spPr>
          <a:xfrm>
            <a:off x="114300" y="3729355"/>
            <a:ext cx="20785080" cy="15188743"/>
          </a:xfrm>
          <a:prstGeom prst="rect">
            <a:avLst/>
          </a:prstGeom>
          <a:noFill/>
          <a:ln w="38100">
            <a:solidFill>
              <a:srgbClr val="BA04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44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1C5EF1-4F01-C5DE-1DC8-AAEFC566B2E1}"/>
              </a:ext>
            </a:extLst>
          </p:cNvPr>
          <p:cNvSpPr/>
          <p:nvPr/>
        </p:nvSpPr>
        <p:spPr>
          <a:xfrm>
            <a:off x="21000979" y="3729355"/>
            <a:ext cx="11802890" cy="1065039"/>
          </a:xfrm>
          <a:prstGeom prst="rect">
            <a:avLst/>
          </a:prstGeom>
          <a:solidFill>
            <a:srgbClr val="BA04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Hardware Interfaces &amp; Peripherals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37EFEC-394A-CB4D-FEBE-795D64DF661B}"/>
              </a:ext>
            </a:extLst>
          </p:cNvPr>
          <p:cNvSpPr/>
          <p:nvPr/>
        </p:nvSpPr>
        <p:spPr>
          <a:xfrm>
            <a:off x="16945741" y="33932095"/>
            <a:ext cx="15909284" cy="5216461"/>
          </a:xfrm>
          <a:prstGeom prst="rect">
            <a:avLst/>
          </a:prstGeom>
          <a:noFill/>
          <a:ln w="38100">
            <a:solidFill>
              <a:srgbClr val="BA04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44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2CCC50A-5F34-95C9-6786-EA8B46AD6982}"/>
              </a:ext>
            </a:extLst>
          </p:cNvPr>
          <p:cNvSpPr/>
          <p:nvPr/>
        </p:nvSpPr>
        <p:spPr>
          <a:xfrm>
            <a:off x="21000978" y="3729355"/>
            <a:ext cx="11802891" cy="18041851"/>
          </a:xfrm>
          <a:prstGeom prst="rect">
            <a:avLst/>
          </a:prstGeom>
          <a:noFill/>
          <a:ln w="38100">
            <a:solidFill>
              <a:srgbClr val="BA04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44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3C37FAE-3E7D-4DF7-FE3C-B2EBC9D7901D}"/>
              </a:ext>
            </a:extLst>
          </p:cNvPr>
          <p:cNvSpPr/>
          <p:nvPr/>
        </p:nvSpPr>
        <p:spPr>
          <a:xfrm>
            <a:off x="114299" y="18918097"/>
            <a:ext cx="20785081" cy="14745370"/>
          </a:xfrm>
          <a:prstGeom prst="rect">
            <a:avLst/>
          </a:prstGeom>
          <a:noFill/>
          <a:ln w="38100">
            <a:solidFill>
              <a:srgbClr val="BA04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44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47FF278-60F5-815D-4BA0-CCB9B2E7D425}"/>
              </a:ext>
            </a:extLst>
          </p:cNvPr>
          <p:cNvSpPr/>
          <p:nvPr/>
        </p:nvSpPr>
        <p:spPr>
          <a:xfrm>
            <a:off x="12700" y="37869376"/>
            <a:ext cx="32918400" cy="1417432"/>
          </a:xfrm>
          <a:prstGeom prst="rect">
            <a:avLst/>
          </a:prstGeom>
          <a:solidFill>
            <a:srgbClr val="BA040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F83C07C-AFA7-986C-D50D-E22B12A3D647}"/>
              </a:ext>
            </a:extLst>
          </p:cNvPr>
          <p:cNvSpPr/>
          <p:nvPr/>
        </p:nvSpPr>
        <p:spPr>
          <a:xfrm>
            <a:off x="21000979" y="21757309"/>
            <a:ext cx="11854046" cy="11906158"/>
          </a:xfrm>
          <a:prstGeom prst="rect">
            <a:avLst/>
          </a:prstGeom>
          <a:noFill/>
          <a:ln w="38100">
            <a:solidFill>
              <a:srgbClr val="BA04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44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DC1065-8BAA-0597-8604-479314F7DC3B}"/>
              </a:ext>
            </a:extLst>
          </p:cNvPr>
          <p:cNvSpPr txBox="1"/>
          <p:nvPr/>
        </p:nvSpPr>
        <p:spPr>
          <a:xfrm>
            <a:off x="13947775" y="37948227"/>
            <a:ext cx="50228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Spring 2026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01B31D3-6F07-278A-73B6-85D831328F68}"/>
              </a:ext>
            </a:extLst>
          </p:cNvPr>
          <p:cNvSpPr/>
          <p:nvPr/>
        </p:nvSpPr>
        <p:spPr>
          <a:xfrm>
            <a:off x="21033950" y="21757308"/>
            <a:ext cx="11802890" cy="1065039"/>
          </a:xfrm>
          <a:prstGeom prst="rect">
            <a:avLst/>
          </a:prstGeom>
          <a:solidFill>
            <a:srgbClr val="BA04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Rendering Pipeline &amp; Game Output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AB6B944-C8F3-051B-52B7-FEF63BA0596E}"/>
              </a:ext>
            </a:extLst>
          </p:cNvPr>
          <p:cNvSpPr/>
          <p:nvPr/>
        </p:nvSpPr>
        <p:spPr>
          <a:xfrm>
            <a:off x="132483" y="18976051"/>
            <a:ext cx="20785081" cy="1054886"/>
          </a:xfrm>
          <a:prstGeom prst="rect">
            <a:avLst/>
          </a:prstGeom>
          <a:solidFill>
            <a:srgbClr val="BA04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Algorithms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FC00281-2F2F-182C-07CD-F21ECE3A475F}"/>
              </a:ext>
            </a:extLst>
          </p:cNvPr>
          <p:cNvSpPr/>
          <p:nvPr/>
        </p:nvSpPr>
        <p:spPr>
          <a:xfrm>
            <a:off x="96114" y="33589964"/>
            <a:ext cx="32808156" cy="721754"/>
          </a:xfrm>
          <a:prstGeom prst="rect">
            <a:avLst/>
          </a:prstGeom>
          <a:solidFill>
            <a:srgbClr val="BA04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                                                                                          Future Considerations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D3405E2-6CD2-C9CE-CE57-2C7D576C8CA7}"/>
              </a:ext>
            </a:extLst>
          </p:cNvPr>
          <p:cNvSpPr txBox="1"/>
          <p:nvPr/>
        </p:nvSpPr>
        <p:spPr>
          <a:xfrm>
            <a:off x="114299" y="34488298"/>
            <a:ext cx="16933041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400" b="1" dirty="0">
                <a:latin typeface="Segoe UI Variable Display" pitchFamily="2" charset="0"/>
              </a:rPr>
              <a:t>Clock Domain Crossing (Camera → VGA):</a:t>
            </a:r>
            <a:r>
              <a:rPr lang="en-US" sz="3400" dirty="0">
                <a:latin typeface="Segoe UI Variable Display" pitchFamily="2" charset="0"/>
              </a:rPr>
              <a:t> Safe synchronization was required to transfer hand tracking data between different clock domains without instability.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400" b="1" dirty="0">
                <a:latin typeface="Segoe UI Variable Display" pitchFamily="2" charset="0"/>
              </a:rPr>
              <a:t>Latency vs. Responsiveness Tradeoff: </a:t>
            </a:r>
            <a:r>
              <a:rPr lang="en-US" sz="3400" dirty="0">
                <a:latin typeface="Segoe UI Variable Display" pitchFamily="2" charset="0"/>
              </a:rPr>
              <a:t>Frame-based centroid updates improved stability but introduced slight delay in control response.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400" b="1" dirty="0">
                <a:latin typeface="Segoe UI Variable Display" pitchFamily="2" charset="0"/>
              </a:rPr>
              <a:t>Designing an Intuitive Control Scheme:</a:t>
            </a:r>
            <a:r>
              <a:rPr lang="en-US" sz="3400" dirty="0">
                <a:latin typeface="Segoe UI Variable Display" pitchFamily="2" charset="0"/>
              </a:rPr>
              <a:t> A moving dead zone around the snake head was needed to reduce jitter and enable natural gameplay.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D336604-A824-7478-951D-5A233ABB2DBE}"/>
              </a:ext>
            </a:extLst>
          </p:cNvPr>
          <p:cNvSpPr txBox="1"/>
          <p:nvPr/>
        </p:nvSpPr>
        <p:spPr>
          <a:xfrm>
            <a:off x="17356626" y="34466463"/>
            <a:ext cx="15480214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400" b="1" dirty="0">
                <a:latin typeface="Segoe UI Variable Display" pitchFamily="2" charset="0"/>
              </a:rPr>
              <a:t>AI/ML-Based Hand Tracking:</a:t>
            </a:r>
            <a:r>
              <a:rPr lang="en-US" sz="3400" dirty="0">
                <a:latin typeface="Segoe UI Variable Display" pitchFamily="2" charset="0"/>
              </a:rPr>
              <a:t> Replacing RGB thresholding with ML techniques could improve robustness to lighting changes and enable gesture recognition.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400" b="1" dirty="0">
                <a:latin typeface="Segoe UI Variable Display" pitchFamily="2" charset="0"/>
              </a:rPr>
              <a:t>Enhanced Hardware Platform:</a:t>
            </a:r>
            <a:r>
              <a:rPr lang="en-US" sz="3400" dirty="0">
                <a:latin typeface="Segoe UI Variable Display" pitchFamily="2" charset="0"/>
              </a:rPr>
              <a:t> Upgrading to a more powerful FPGA or camera would allow for better performance and graphics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400" b="1" dirty="0">
                <a:latin typeface="Segoe UI Variable Display" pitchFamily="2" charset="0"/>
              </a:rPr>
              <a:t>Expanded Gameplay:</a:t>
            </a:r>
            <a:r>
              <a:rPr lang="en-US" sz="3400" dirty="0">
                <a:latin typeface="Segoe UI Variable Display" pitchFamily="2" charset="0"/>
              </a:rPr>
              <a:t> Adding more advanced game mechanics, scoring systems, AI opponents, and modes would enhance overall user experience.</a:t>
            </a:r>
          </a:p>
        </p:txBody>
      </p:sp>
    </p:spTree>
    <p:extLst>
      <p:ext uri="{BB962C8B-B14F-4D97-AF65-F5344CB8AC3E}">
        <p14:creationId xmlns:p14="http://schemas.microsoft.com/office/powerpoint/2010/main" val="3981622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1389</TotalTime>
  <Words>163</Words>
  <Application>Microsoft Office PowerPoint</Application>
  <PresentationFormat>Custom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Variable Display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Joseph Krachey</dc:creator>
  <cp:lastModifiedBy>Amer Raslan Salem</cp:lastModifiedBy>
  <cp:revision>7</cp:revision>
  <dcterms:created xsi:type="dcterms:W3CDTF">2026-03-02T17:29:31Z</dcterms:created>
  <dcterms:modified xsi:type="dcterms:W3CDTF">2026-04-27T13:11:14Z</dcterms:modified>
</cp:coreProperties>
</file>